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2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7FA"/>
                </a:solidFill>
                <a:latin typeface="Aptos Display"/>
              </a:defRPr>
            </a:pPr>
            <a:r>
              <a:t>IBM Telco Customer Churn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300"/>
              </a:spcAft>
              <a:defRPr sz="2100">
                <a:solidFill>
                  <a:srgbClr val="DADFE8"/>
                </a:solidFill>
                <a:latin typeface="Aptos"/>
              </a:defRPr>
            </a:pPr>
            <a:r>
              <a:t>Data Analytics, Statistical Modeling &amp; Customer Churn Prediction</a:t>
            </a:r>
          </a:p>
          <a:p>
            <a:pPr algn="ctr">
              <a:spcAft>
                <a:spcPts val="1300"/>
              </a:spcAft>
              <a:defRPr sz="2100">
                <a:solidFill>
                  <a:srgbClr val="DADFE8"/>
                </a:solidFill>
                <a:latin typeface="Aptos"/>
              </a:defRPr>
            </a:pPr>
            <a:r>
              <a:t>ApexPlanet Internship — Final Project</a:t>
            </a:r>
          </a:p>
          <a:p>
            <a:pPr algn="ctr">
              <a:spcAft>
                <a:spcPts val="1300"/>
              </a:spcAft>
              <a:defRPr sz="2100">
                <a:solidFill>
                  <a:srgbClr val="DADFE8"/>
                </a:solidFill>
                <a:latin typeface="Aptos"/>
              </a:defRPr>
            </a:pPr>
            <a:r>
              <a:t>Presented by Pritam Routray</a:t>
            </a:r>
          </a:p>
          <a:p>
            <a:pPr algn="ctr">
              <a:spcAft>
                <a:spcPts val="1300"/>
              </a:spcAft>
              <a:defRPr sz="2100">
                <a:solidFill>
                  <a:srgbClr val="DADFE8"/>
                </a:solidFill>
                <a:latin typeface="Aptos"/>
              </a:defRPr>
            </a:pPr>
            <a:r>
              <a:t>Python • SQL • Power BI •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CA0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2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  <a:latin typeface="Aptos Display"/>
              </a:defRPr>
            </a:pPr>
            <a:r>
              <a:t>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DADFE8"/>
                </a:solidFill>
                <a:latin typeface="Aptos"/>
              </a:defRPr>
            </a:pPr>
            <a:r>
              <a:t>Analyze customer behavior and identify factors associated with churn.</a:t>
            </a:r>
          </a:p>
          <a:p>
            <a:pPr>
              <a:spcAft>
                <a:spcPts val="1300"/>
              </a:spcAft>
              <a:defRPr sz="1800">
                <a:solidFill>
                  <a:srgbClr val="DADFE8"/>
                </a:solidFill>
                <a:latin typeface="Aptos"/>
              </a:defRPr>
            </a:pPr>
            <a:r>
              <a:t>Clean and prepare customer data</a:t>
            </a:r>
          </a:p>
          <a:p>
            <a:pPr>
              <a:spcAft>
                <a:spcPts val="1300"/>
              </a:spcAft>
              <a:defRPr sz="1800">
                <a:solidFill>
                  <a:srgbClr val="DADFE8"/>
                </a:solidFill>
                <a:latin typeface="Aptos"/>
              </a:defRPr>
            </a:pPr>
            <a:r>
              <a:t>Perform EDA and SQL-based analysis</a:t>
            </a:r>
          </a:p>
          <a:p>
            <a:pPr>
              <a:spcAft>
                <a:spcPts val="1300"/>
              </a:spcAft>
              <a:defRPr sz="1800">
                <a:solidFill>
                  <a:srgbClr val="DADFE8"/>
                </a:solidFill>
                <a:latin typeface="Aptos"/>
              </a:defRPr>
            </a:pPr>
            <a:r>
              <a:t>Apply statistical analysis and customer segmentation</a:t>
            </a:r>
          </a:p>
          <a:p>
            <a:pPr>
              <a:spcAft>
                <a:spcPts val="1300"/>
              </a:spcAft>
              <a:defRPr sz="1800">
                <a:solidFill>
                  <a:srgbClr val="DADFE8"/>
                </a:solidFill>
                <a:latin typeface="Aptos"/>
              </a:defRPr>
            </a:pPr>
            <a:r>
              <a:t>Build basic churn prediction models</a:t>
            </a:r>
          </a:p>
          <a:p>
            <a:pPr>
              <a:spcAft>
                <a:spcPts val="1300"/>
              </a:spcAft>
              <a:defRPr sz="1800">
                <a:solidFill>
                  <a:srgbClr val="DADFE8"/>
                </a:solidFill>
                <a:latin typeface="Aptos"/>
              </a:defRPr>
            </a:pPr>
            <a:r>
              <a:t>Create an interactive Power BI dashboard</a:t>
            </a:r>
          </a:p>
          <a:p>
            <a:pPr>
              <a:spcAft>
                <a:spcPts val="1300"/>
              </a:spcAft>
              <a:defRPr sz="1800">
                <a:solidFill>
                  <a:srgbClr val="DADFE8"/>
                </a:solidFill>
                <a:latin typeface="Aptos"/>
              </a:defRPr>
            </a:pPr>
            <a:r>
              <a:t>Automate the analytics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CA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2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  <a:latin typeface="Aptos Display"/>
              </a:defRPr>
            </a:pPr>
            <a:r>
              <a:t>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DADFE8"/>
                </a:solidFill>
                <a:latin typeface="Aptos"/>
              </a:defRPr>
            </a:pPr>
            <a:r>
              <a:t>IBM Telco Customer Churn Dataset</a:t>
            </a:r>
          </a:p>
          <a:p>
            <a:pPr>
              <a:spcAft>
                <a:spcPts val="1300"/>
              </a:spcAft>
              <a:defRPr sz="1800">
                <a:solidFill>
                  <a:srgbClr val="DADFE8"/>
                </a:solidFill>
                <a:latin typeface="Aptos"/>
              </a:defRPr>
            </a:pPr>
            <a:r>
              <a:t>7,043 customers • 21 features</a:t>
            </a:r>
          </a:p>
          <a:p>
            <a:pPr>
              <a:spcAft>
                <a:spcPts val="1300"/>
              </a:spcAft>
              <a:defRPr sz="1800">
                <a:solidFill>
                  <a:srgbClr val="DADFE8"/>
                </a:solidFill>
                <a:latin typeface="Aptos"/>
              </a:defRPr>
            </a:pPr>
            <a:r>
              <a:t>Target variable: Churn</a:t>
            </a:r>
          </a:p>
          <a:p>
            <a:pPr>
              <a:spcAft>
                <a:spcPts val="1300"/>
              </a:spcAft>
              <a:defRPr sz="1800">
                <a:solidFill>
                  <a:srgbClr val="DADFE8"/>
                </a:solidFill>
                <a:latin typeface="Aptos"/>
              </a:defRPr>
            </a:pPr>
            <a:r>
              <a:t>No Churn: 5,174 customers</a:t>
            </a:r>
          </a:p>
          <a:p>
            <a:pPr>
              <a:spcAft>
                <a:spcPts val="1300"/>
              </a:spcAft>
              <a:defRPr sz="1800">
                <a:solidFill>
                  <a:srgbClr val="DADFE8"/>
                </a:solidFill>
                <a:latin typeface="Aptos"/>
              </a:defRPr>
            </a:pPr>
            <a:r>
              <a:t>Churn: 1,869 customers</a:t>
            </a:r>
          </a:p>
          <a:p>
            <a:pPr>
              <a:spcAft>
                <a:spcPts val="1300"/>
              </a:spcAft>
              <a:defRPr sz="1800">
                <a:solidFill>
                  <a:srgbClr val="DADFE8"/>
                </a:solidFill>
                <a:latin typeface="Aptos"/>
              </a:defRPr>
            </a:pPr>
            <a:r>
              <a:t>Overall churn rate: 26.54%</a:t>
            </a:r>
          </a:p>
          <a:p>
            <a:pPr>
              <a:spcAft>
                <a:spcPts val="1300"/>
              </a:spcAft>
              <a:defRPr sz="1800">
                <a:solidFill>
                  <a:srgbClr val="DADFE8"/>
                </a:solidFill>
                <a:latin typeface="Aptos"/>
              </a:defRPr>
            </a:pPr>
            <a:r>
              <a:t>Features include tenure, contract, internet service, payment method, monthly charges and total charges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CA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2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  <a:latin typeface="Aptos Display"/>
              </a:defRPr>
            </a:pPr>
            <a:r>
              <a:t>Data Cleaning &amp;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DADFE8"/>
                </a:solidFill>
                <a:latin typeface="Aptos"/>
              </a:defRPr>
            </a:pPr>
            <a:r>
              <a:t>Standardized column names</a:t>
            </a:r>
          </a:p>
          <a:p>
            <a:pPr>
              <a:spcAft>
                <a:spcPts val="1300"/>
              </a:spcAft>
              <a:defRPr sz="1800">
                <a:solidFill>
                  <a:srgbClr val="DADFE8"/>
                </a:solidFill>
                <a:latin typeface="Aptos"/>
              </a:defRPr>
            </a:pPr>
            <a:r>
              <a:t>Converted TotalCharges to numeric format</a:t>
            </a:r>
          </a:p>
          <a:p>
            <a:pPr>
              <a:spcAft>
                <a:spcPts val="1300"/>
              </a:spcAft>
              <a:defRPr sz="1800">
                <a:solidFill>
                  <a:srgbClr val="DADFE8"/>
                </a:solidFill>
                <a:latin typeface="Aptos"/>
              </a:defRPr>
            </a:pPr>
            <a:r>
              <a:t>Handled missing values</a:t>
            </a:r>
          </a:p>
          <a:p>
            <a:pPr>
              <a:spcAft>
                <a:spcPts val="1300"/>
              </a:spcAft>
              <a:defRPr sz="1800">
                <a:solidFill>
                  <a:srgbClr val="DADFE8"/>
                </a:solidFill>
                <a:latin typeface="Aptos"/>
              </a:defRPr>
            </a:pPr>
            <a:r>
              <a:t>Removed/checked duplicate records</a:t>
            </a:r>
          </a:p>
          <a:p>
            <a:pPr>
              <a:spcAft>
                <a:spcPts val="1300"/>
              </a:spcAft>
              <a:defRPr sz="1800">
                <a:solidFill>
                  <a:srgbClr val="DADFE8"/>
                </a:solidFill>
                <a:latin typeface="Aptos"/>
              </a:defRPr>
            </a:pPr>
            <a:r>
              <a:t>Converted categorical variables appropriately</a:t>
            </a:r>
          </a:p>
          <a:p>
            <a:pPr>
              <a:spcAft>
                <a:spcPts val="1300"/>
              </a:spcAft>
              <a:defRPr sz="1800">
                <a:solidFill>
                  <a:srgbClr val="DADFE8"/>
                </a:solidFill>
                <a:latin typeface="Aptos"/>
              </a:defRPr>
            </a:pPr>
            <a:r>
              <a:t>Reviewed potential outliers</a:t>
            </a:r>
          </a:p>
          <a:p>
            <a:pPr>
              <a:spcAft>
                <a:spcPts val="1300"/>
              </a:spcAft>
              <a:defRPr sz="1800">
                <a:solidFill>
                  <a:srgbClr val="DADFE8"/>
                </a:solidFill>
                <a:latin typeface="Aptos"/>
              </a:defRPr>
            </a:pPr>
            <a:r>
              <a:t>Created the cleaned dataset for downstream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CA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2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  <a:latin typeface="Aptos Display"/>
              </a:defRPr>
            </a:pPr>
            <a:r>
              <a:t>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DADFE8"/>
                </a:solidFill>
                <a:latin typeface="Aptos"/>
              </a:defRPr>
            </a:pPr>
            <a:r>
              <a:t>Analyzed churn distribution and customer characteristics</a:t>
            </a:r>
          </a:p>
          <a:p>
            <a:pPr>
              <a:spcAft>
                <a:spcPts val="1300"/>
              </a:spcAft>
              <a:defRPr sz="2100">
                <a:solidFill>
                  <a:srgbClr val="DADFE8"/>
                </a:solidFill>
                <a:latin typeface="Aptos"/>
              </a:defRPr>
            </a:pPr>
            <a:r>
              <a:t>Compared contract types, tenure and charges</a:t>
            </a:r>
          </a:p>
          <a:p>
            <a:pPr>
              <a:spcAft>
                <a:spcPts val="1300"/>
              </a:spcAft>
              <a:defRPr sz="2100">
                <a:solidFill>
                  <a:srgbClr val="DADFE8"/>
                </a:solidFill>
                <a:latin typeface="Aptos"/>
              </a:defRPr>
            </a:pPr>
            <a:r>
              <a:t>Examined internet/service and payment patterns</a:t>
            </a:r>
          </a:p>
          <a:p>
            <a:pPr>
              <a:spcAft>
                <a:spcPts val="1300"/>
              </a:spcAft>
              <a:defRPr sz="2100">
                <a:solidFill>
                  <a:srgbClr val="DADFE8"/>
                </a:solidFill>
                <a:latin typeface="Aptos"/>
              </a:defRPr>
            </a:pPr>
            <a:r>
              <a:t>Studied relationships among numerical variables</a:t>
            </a:r>
          </a:p>
          <a:p>
            <a:pPr>
              <a:spcAft>
                <a:spcPts val="1300"/>
              </a:spcAft>
              <a:defRPr sz="2100">
                <a:solidFill>
                  <a:srgbClr val="DADFE8"/>
                </a:solidFill>
                <a:latin typeface="Aptos"/>
              </a:defRPr>
            </a:pPr>
            <a:r>
              <a:t>Tools: Pandas • Matplotlib • Seaborn</a:t>
            </a:r>
          </a:p>
          <a:p>
            <a:pPr>
              <a:spcAft>
                <a:spcPts val="1300"/>
              </a:spcAft>
              <a:defRPr sz="2100">
                <a:solidFill>
                  <a:srgbClr val="DADFE8"/>
                </a:solidFill>
                <a:latin typeface="Aptos"/>
              </a:defRPr>
            </a:pPr>
            <a:r>
              <a:t>Key takeaway: churn patterns vary across customer and service characteristics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CA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2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  <a:latin typeface="Aptos Display"/>
              </a:defRPr>
            </a:pPr>
            <a:r>
              <a:t>SQL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DADFE8"/>
                </a:solidFill>
                <a:latin typeface="Aptos"/>
              </a:defRPr>
            </a:pPr>
            <a:r>
              <a:t>Used SQL for structured business analysis</a:t>
            </a:r>
          </a:p>
          <a:p>
            <a:pPr>
              <a:spcAft>
                <a:spcPts val="1300"/>
              </a:spcAft>
              <a:defRPr sz="2100">
                <a:solidFill>
                  <a:srgbClr val="DADFE8"/>
                </a:solidFill>
                <a:latin typeface="Aptos"/>
              </a:defRPr>
            </a:pPr>
            <a:r>
              <a:t>Customer counts and category-wise summaries</a:t>
            </a:r>
          </a:p>
          <a:p>
            <a:pPr>
              <a:spcAft>
                <a:spcPts val="1300"/>
              </a:spcAft>
              <a:defRPr sz="2100">
                <a:solidFill>
                  <a:srgbClr val="DADFE8"/>
                </a:solidFill>
                <a:latin typeface="Aptos"/>
              </a:defRPr>
            </a:pPr>
            <a:r>
              <a:t>Churn analysis by contract and customer characteristics</a:t>
            </a:r>
          </a:p>
          <a:p>
            <a:pPr>
              <a:spcAft>
                <a:spcPts val="1300"/>
              </a:spcAft>
              <a:defRPr sz="2100">
                <a:solidFill>
                  <a:srgbClr val="DADFE8"/>
                </a:solidFill>
                <a:latin typeface="Aptos"/>
              </a:defRPr>
            </a:pPr>
            <a:r>
              <a:t>Aggregated customer metrics</a:t>
            </a:r>
          </a:p>
          <a:p>
            <a:pPr>
              <a:spcAft>
                <a:spcPts val="1300"/>
              </a:spcAft>
              <a:defRPr sz="2100">
                <a:solidFill>
                  <a:srgbClr val="DADFE8"/>
                </a:solidFill>
                <a:latin typeface="Aptos"/>
              </a:defRPr>
            </a:pPr>
            <a:r>
              <a:t>Integrated SQL with Python using SQLAlchemy and Pandas</a:t>
            </a:r>
          </a:p>
          <a:p>
            <a:pPr>
              <a:spcAft>
                <a:spcPts val="1300"/>
              </a:spcAft>
              <a:defRPr sz="2100">
                <a:solidFill>
                  <a:srgbClr val="DADFE8"/>
                </a:solidFill>
                <a:latin typeface="Aptos"/>
              </a:defRPr>
            </a:pPr>
            <a:r>
              <a:t>Workflow: Database → SQL Queries → Python →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CA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2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  <a:latin typeface="Aptos Display"/>
              </a:defRPr>
            </a:pPr>
            <a:r>
              <a:t>Statistical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DADFE8"/>
                </a:solidFill>
                <a:latin typeface="Aptos"/>
              </a:defRPr>
            </a:pPr>
            <a:r>
              <a:t>Descriptive statistics: mean, median, mode</a:t>
            </a:r>
          </a:p>
          <a:p>
            <a:pPr>
              <a:spcAft>
                <a:spcPts val="1300"/>
              </a:spcAft>
              <a:defRPr sz="1800">
                <a:solidFill>
                  <a:srgbClr val="DADFE8"/>
                </a:solidFill>
                <a:latin typeface="Aptos"/>
              </a:defRPr>
            </a:pPr>
            <a:r>
              <a:t>Variance and standard deviation</a:t>
            </a:r>
          </a:p>
          <a:p>
            <a:pPr>
              <a:spcAft>
                <a:spcPts val="1300"/>
              </a:spcAft>
              <a:defRPr sz="1800">
                <a:solidFill>
                  <a:srgbClr val="DADFE8"/>
                </a:solidFill>
                <a:latin typeface="Aptos"/>
              </a:defRPr>
            </a:pPr>
            <a:r>
              <a:t>Skewness and kurtosis</a:t>
            </a:r>
          </a:p>
          <a:p>
            <a:pPr>
              <a:spcAft>
                <a:spcPts val="1300"/>
              </a:spcAft>
              <a:defRPr sz="1800">
                <a:solidFill>
                  <a:srgbClr val="DADFE8"/>
                </a:solidFill>
                <a:latin typeface="Aptos"/>
              </a:defRPr>
            </a:pPr>
            <a:r>
              <a:t>95% confidence interval for Monthly Charges</a:t>
            </a:r>
          </a:p>
          <a:p>
            <a:pPr>
              <a:spcAft>
                <a:spcPts val="1300"/>
              </a:spcAft>
              <a:defRPr sz="1800">
                <a:solidFill>
                  <a:srgbClr val="DADFE8"/>
                </a:solidFill>
                <a:latin typeface="Aptos"/>
              </a:defRPr>
            </a:pPr>
            <a:r>
              <a:t>Hypothesis testing and correlation analysis</a:t>
            </a:r>
          </a:p>
          <a:p>
            <a:pPr>
              <a:spcAft>
                <a:spcPts val="1300"/>
              </a:spcAft>
              <a:defRPr sz="1800">
                <a:solidFill>
                  <a:srgbClr val="DADFE8"/>
                </a:solidFill>
                <a:latin typeface="Aptos"/>
              </a:defRPr>
            </a:pPr>
            <a:r>
              <a:t>Library used: SciPy</a:t>
            </a:r>
          </a:p>
          <a:p>
            <a:pPr>
              <a:spcAft>
                <a:spcPts val="1300"/>
              </a:spcAft>
              <a:defRPr sz="1800">
                <a:solidFill>
                  <a:srgbClr val="DADFE8"/>
                </a:solidFill>
                <a:latin typeface="Aptos"/>
              </a:defRPr>
            </a:pPr>
            <a:r>
              <a:t>Statistics helped validate patterns observed during 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CA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2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  <a:latin typeface="Aptos Display"/>
              </a:defRPr>
            </a:pPr>
            <a:r>
              <a:t>Customer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DADFE8"/>
                </a:solidFill>
                <a:latin typeface="Aptos"/>
              </a:defRPr>
            </a:pPr>
            <a:r>
              <a:t>K-Means clustering used to identify customer groups</a:t>
            </a:r>
          </a:p>
          <a:p>
            <a:pPr>
              <a:spcAft>
                <a:spcPts val="1300"/>
              </a:spcAft>
              <a:defRPr sz="2100">
                <a:solidFill>
                  <a:srgbClr val="DADFE8"/>
                </a:solidFill>
                <a:latin typeface="Aptos"/>
              </a:defRPr>
            </a:pPr>
            <a:r>
              <a:t>Features standardized with StandardScaler</a:t>
            </a:r>
          </a:p>
          <a:p>
            <a:pPr>
              <a:spcAft>
                <a:spcPts val="1300"/>
              </a:spcAft>
              <a:defRPr sz="2100">
                <a:solidFill>
                  <a:srgbClr val="DADFE8"/>
                </a:solidFill>
                <a:latin typeface="Aptos"/>
              </a:defRPr>
            </a:pPr>
            <a:r>
              <a:t>Elbow method and silhouette score used to assess K</a:t>
            </a:r>
          </a:p>
          <a:p>
            <a:pPr>
              <a:spcAft>
                <a:spcPts val="1300"/>
              </a:spcAft>
              <a:defRPr sz="2100">
                <a:solidFill>
                  <a:srgbClr val="DADFE8"/>
                </a:solidFill>
                <a:latin typeface="Aptos"/>
              </a:defRPr>
            </a:pPr>
            <a:r>
              <a:t>PCA used for 2D cluster visualization</a:t>
            </a:r>
          </a:p>
          <a:p>
            <a:pPr>
              <a:spcAft>
                <a:spcPts val="1300"/>
              </a:spcAft>
              <a:defRPr sz="2100">
                <a:solidFill>
                  <a:srgbClr val="DADFE8"/>
                </a:solidFill>
                <a:latin typeface="Aptos"/>
              </a:defRPr>
            </a:pPr>
            <a:r>
              <a:t>Segments can support targeted retention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CA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2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  <a:latin typeface="Aptos Display"/>
              </a:defRPr>
            </a:pPr>
            <a:r>
              <a:t>Churn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DADFE8"/>
                </a:solidFill>
                <a:latin typeface="Aptos"/>
              </a:defRPr>
            </a:pPr>
            <a:r>
              <a:t>Basic predictive modeling performed for churn classification</a:t>
            </a:r>
          </a:p>
          <a:p>
            <a:pPr>
              <a:spcAft>
                <a:spcPts val="1300"/>
              </a:spcAft>
              <a:defRPr sz="2100">
                <a:solidFill>
                  <a:srgbClr val="DADFE8"/>
                </a:solidFill>
                <a:latin typeface="Aptos"/>
              </a:defRPr>
            </a:pPr>
            <a:r>
              <a:t>Models: Logistic Regression and Decision Tree</a:t>
            </a:r>
          </a:p>
          <a:p>
            <a:pPr>
              <a:spcAft>
                <a:spcPts val="1300"/>
              </a:spcAft>
              <a:defRPr sz="2100">
                <a:solidFill>
                  <a:srgbClr val="DADFE8"/>
                </a:solidFill>
                <a:latin typeface="Aptos"/>
              </a:defRPr>
            </a:pPr>
            <a:r>
              <a:t>Train/test split used for evaluation</a:t>
            </a:r>
          </a:p>
          <a:p>
            <a:pPr>
              <a:spcAft>
                <a:spcPts val="1300"/>
              </a:spcAft>
              <a:defRPr sz="2100">
                <a:solidFill>
                  <a:srgbClr val="DADFE8"/>
                </a:solidFill>
                <a:latin typeface="Aptos"/>
              </a:defRPr>
            </a:pPr>
            <a:r>
              <a:t>Metrics: Accuracy, Precision, Recall, F1-Score and ROC-AUC</a:t>
            </a:r>
          </a:p>
          <a:p>
            <a:pPr>
              <a:spcAft>
                <a:spcPts val="1300"/>
              </a:spcAft>
              <a:defRPr sz="2100">
                <a:solidFill>
                  <a:srgbClr val="DADFE8"/>
                </a:solidFill>
                <a:latin typeface="Aptos"/>
              </a:defRPr>
            </a:pPr>
            <a:r>
              <a:t>Model outputs were evaluated using the cleaned customer dataset</a:t>
            </a:r>
          </a:p>
          <a:p>
            <a:pPr>
              <a:spcAft>
                <a:spcPts val="1300"/>
              </a:spcAft>
              <a:defRPr sz="2100">
                <a:solidFill>
                  <a:srgbClr val="DADFE8"/>
                </a:solidFill>
                <a:latin typeface="Aptos"/>
              </a:defRPr>
            </a:pPr>
            <a:r>
              <a:t>Results should be interpreted together with business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CA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2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  <a:latin typeface="Aptos Display"/>
              </a:defRPr>
            </a:pPr>
            <a:r>
              <a:t>Power BI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DADFE8"/>
                </a:solidFill>
                <a:latin typeface="Aptos"/>
              </a:defRPr>
            </a:pPr>
            <a:r>
              <a:t>IBM Telco Customer Churn Dashboard</a:t>
            </a:r>
          </a:p>
          <a:p>
            <a:pPr>
              <a:spcAft>
                <a:spcPts val="1300"/>
              </a:spcAft>
              <a:defRPr sz="2100">
                <a:solidFill>
                  <a:srgbClr val="DADFE8"/>
                </a:solidFill>
                <a:latin typeface="Aptos"/>
              </a:defRPr>
            </a:pPr>
            <a:r>
              <a:t>Interactive churn overview and customer analysis</a:t>
            </a:r>
          </a:p>
          <a:p>
            <a:pPr>
              <a:spcAft>
                <a:spcPts val="1300"/>
              </a:spcAft>
              <a:defRPr sz="2100">
                <a:solidFill>
                  <a:srgbClr val="DADFE8"/>
                </a:solidFill>
                <a:latin typeface="Aptos"/>
              </a:defRPr>
            </a:pPr>
            <a:r>
              <a:t>KPI-driven visualizations</a:t>
            </a:r>
          </a:p>
          <a:p>
            <a:pPr>
              <a:spcAft>
                <a:spcPts val="1300"/>
              </a:spcAft>
              <a:defRPr sz="2100">
                <a:solidFill>
                  <a:srgbClr val="DADFE8"/>
                </a:solidFill>
                <a:latin typeface="Aptos"/>
              </a:defRPr>
            </a:pPr>
            <a:r>
              <a:t>Contract, service and customer characteristic analysis</a:t>
            </a:r>
          </a:p>
          <a:p>
            <a:pPr>
              <a:spcAft>
                <a:spcPts val="1300"/>
              </a:spcAft>
              <a:defRPr sz="2100">
                <a:solidFill>
                  <a:srgbClr val="DADFE8"/>
                </a:solidFill>
                <a:latin typeface="Aptos"/>
              </a:defRPr>
            </a:pPr>
            <a:r>
              <a:t>Interactive filtering for exploring customer segments</a:t>
            </a:r>
          </a:p>
          <a:p>
            <a:pPr>
              <a:spcAft>
                <a:spcPts val="1300"/>
              </a:spcAft>
              <a:defRPr sz="2100">
                <a:solidFill>
                  <a:srgbClr val="DADFE8"/>
                </a:solidFill>
                <a:latin typeface="Aptos"/>
              </a:defRPr>
            </a:pPr>
            <a:r>
              <a:t>Dashboard built in Microsoft Power 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CA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2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  <a:latin typeface="Aptos Display"/>
              </a:defRPr>
            </a:pPr>
            <a:r>
              <a:t>Automated Analytics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DADFE8"/>
                </a:solidFill>
                <a:latin typeface="Aptos"/>
              </a:defRPr>
            </a:pPr>
            <a:r>
              <a:t>Python script: scripts/analytics_pipeline.py</a:t>
            </a:r>
          </a:p>
          <a:p>
            <a:pPr>
              <a:spcAft>
                <a:spcPts val="1300"/>
              </a:spcAft>
              <a:defRPr sz="1800">
                <a:solidFill>
                  <a:srgbClr val="DADFE8"/>
                </a:solidFill>
                <a:latin typeface="Aptos"/>
              </a:defRPr>
            </a:pPr>
            <a:r>
              <a:t>Loads the source CSV</a:t>
            </a:r>
          </a:p>
          <a:p>
            <a:pPr>
              <a:spcAft>
                <a:spcPts val="1300"/>
              </a:spcAft>
              <a:defRPr sz="1800">
                <a:solidFill>
                  <a:srgbClr val="DADFE8"/>
                </a:solidFill>
                <a:latin typeface="Aptos"/>
              </a:defRPr>
            </a:pPr>
            <a:r>
              <a:t>Cleans and transforms the dataset</a:t>
            </a:r>
          </a:p>
          <a:p>
            <a:pPr>
              <a:spcAft>
                <a:spcPts val="1300"/>
              </a:spcAft>
              <a:defRPr sz="1800">
                <a:solidFill>
                  <a:srgbClr val="DADFE8"/>
                </a:solidFill>
                <a:latin typeface="Aptos"/>
              </a:defRPr>
            </a:pPr>
            <a:r>
              <a:t>Calculates key KPIs</a:t>
            </a:r>
          </a:p>
          <a:p>
            <a:pPr>
              <a:spcAft>
                <a:spcPts val="1300"/>
              </a:spcAft>
              <a:defRPr sz="1800">
                <a:solidFill>
                  <a:srgbClr val="DADFE8"/>
                </a:solidFill>
                <a:latin typeface="Aptos"/>
              </a:defRPr>
            </a:pPr>
            <a:r>
              <a:t>Generates churn visualization</a:t>
            </a:r>
          </a:p>
          <a:p>
            <a:pPr>
              <a:spcAft>
                <a:spcPts val="1300"/>
              </a:spcAft>
              <a:defRPr sz="1800">
                <a:solidFill>
                  <a:srgbClr val="DADFE8"/>
                </a:solidFill>
                <a:latin typeface="Aptos"/>
              </a:defRPr>
            </a:pPr>
            <a:r>
              <a:t>Exports analysis outputs</a:t>
            </a:r>
          </a:p>
          <a:p>
            <a:pPr>
              <a:spcAft>
                <a:spcPts val="1300"/>
              </a:spcAft>
              <a:defRPr sz="1800">
                <a:solidFill>
                  <a:srgbClr val="DADFE8"/>
                </a:solidFill>
                <a:latin typeface="Aptos"/>
              </a:defRPr>
            </a:pPr>
            <a:r>
              <a:t>Pipeline completed successfully on 7,043 rows and 21 columns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CA0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2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  <a:latin typeface="Aptos Display"/>
              </a:defRPr>
            </a:pPr>
            <a: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DADFE8"/>
                </a:solidFill>
                <a:latin typeface="Aptos"/>
              </a:defRPr>
            </a:pPr>
            <a:r>
              <a:t>Overall churn rate: 26.54%</a:t>
            </a:r>
          </a:p>
          <a:p>
            <a:pPr>
              <a:spcAft>
                <a:spcPts val="1300"/>
              </a:spcAft>
              <a:defRPr sz="2100">
                <a:solidFill>
                  <a:srgbClr val="DADFE8"/>
                </a:solidFill>
                <a:latin typeface="Aptos"/>
              </a:defRPr>
            </a:pPr>
            <a:r>
              <a:t>Contract type is an important churn-related characteristic</a:t>
            </a:r>
          </a:p>
          <a:p>
            <a:pPr>
              <a:spcAft>
                <a:spcPts val="1300"/>
              </a:spcAft>
              <a:defRPr sz="2100">
                <a:solidFill>
                  <a:srgbClr val="DADFE8"/>
                </a:solidFill>
                <a:latin typeface="Aptos"/>
              </a:defRPr>
            </a:pPr>
            <a:r>
              <a:t>Tenure provides useful information for retention analysis</a:t>
            </a:r>
          </a:p>
          <a:p>
            <a:pPr>
              <a:spcAft>
                <a:spcPts val="1300"/>
              </a:spcAft>
              <a:defRPr sz="2100">
                <a:solidFill>
                  <a:srgbClr val="DADFE8"/>
                </a:solidFill>
                <a:latin typeface="Aptos"/>
              </a:defRPr>
            </a:pPr>
            <a:r>
              <a:t>Monthly and total charges help describe customer behavior</a:t>
            </a:r>
          </a:p>
          <a:p>
            <a:pPr>
              <a:spcAft>
                <a:spcPts val="1300"/>
              </a:spcAft>
              <a:defRPr sz="2100">
                <a:solidFill>
                  <a:srgbClr val="DADFE8"/>
                </a:solidFill>
                <a:latin typeface="Aptos"/>
              </a:defRPr>
            </a:pPr>
            <a:r>
              <a:t>Customer segmentation enables differentiated retention strategies</a:t>
            </a:r>
          </a:p>
          <a:p>
            <a:pPr>
              <a:spcAft>
                <a:spcPts val="1300"/>
              </a:spcAft>
              <a:defRPr sz="2100">
                <a:solidFill>
                  <a:srgbClr val="DADFE8"/>
                </a:solidFill>
                <a:latin typeface="Aptos"/>
              </a:defRPr>
            </a:pPr>
            <a:r>
              <a:t>Predictive modeling can help prioritize customers for retention outreach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CA0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2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  <a:latin typeface="Aptos Display"/>
              </a:defRPr>
            </a:pPr>
            <a:r>
              <a:t>Business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DADFE8"/>
                </a:solidFill>
                <a:latin typeface="Aptos"/>
              </a:defRPr>
            </a:pPr>
            <a:r>
              <a:t>Identify and prioritize high-risk customers</a:t>
            </a:r>
          </a:p>
          <a:p>
            <a:pPr>
              <a:spcAft>
                <a:spcPts val="1300"/>
              </a:spcAft>
              <a:defRPr sz="2100">
                <a:solidFill>
                  <a:srgbClr val="DADFE8"/>
                </a:solidFill>
                <a:latin typeface="Aptos"/>
              </a:defRPr>
            </a:pPr>
            <a:r>
              <a:t>Strengthen retention during early customer tenure</a:t>
            </a:r>
          </a:p>
          <a:p>
            <a:pPr>
              <a:spcAft>
                <a:spcPts val="1300"/>
              </a:spcAft>
              <a:defRPr sz="2100">
                <a:solidFill>
                  <a:srgbClr val="DADFE8"/>
                </a:solidFill>
                <a:latin typeface="Aptos"/>
              </a:defRPr>
            </a:pPr>
            <a:r>
              <a:t>Encourage longer-term contracts with suitable incentives</a:t>
            </a:r>
          </a:p>
          <a:p>
            <a:pPr>
              <a:spcAft>
                <a:spcPts val="1300"/>
              </a:spcAft>
              <a:defRPr sz="2100">
                <a:solidFill>
                  <a:srgbClr val="DADFE8"/>
                </a:solidFill>
                <a:latin typeface="Aptos"/>
              </a:defRPr>
            </a:pPr>
            <a:r>
              <a:t>Use customer segments for personalized campaigns</a:t>
            </a:r>
          </a:p>
          <a:p>
            <a:pPr>
              <a:spcAft>
                <a:spcPts val="1300"/>
              </a:spcAft>
              <a:defRPr sz="2100">
                <a:solidFill>
                  <a:srgbClr val="DADFE8"/>
                </a:solidFill>
                <a:latin typeface="Aptos"/>
              </a:defRPr>
            </a:pPr>
            <a:r>
              <a:t>Monitor pricing, service quality and customer experience</a:t>
            </a:r>
          </a:p>
          <a:p>
            <a:pPr>
              <a:spcAft>
                <a:spcPts val="1300"/>
              </a:spcAft>
              <a:defRPr sz="2100">
                <a:solidFill>
                  <a:srgbClr val="DADFE8"/>
                </a:solidFill>
                <a:latin typeface="Aptos"/>
              </a:defRPr>
            </a:pPr>
            <a:r>
              <a:t>Use dashboards and automated KPIs for ongoing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CA0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2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  <a:latin typeface="Aptos Display"/>
              </a:defRPr>
            </a:pPr>
            <a:r>
              <a:t>Technology Stack &amp; 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DADFE8"/>
                </a:solidFill>
                <a:latin typeface="Aptos"/>
              </a:defRPr>
            </a:pPr>
            <a:r>
              <a:t>Python • Pandas • NumPy • Matplotlib • Seaborn</a:t>
            </a:r>
          </a:p>
          <a:p>
            <a:pPr>
              <a:spcAft>
                <a:spcPts val="1300"/>
              </a:spcAft>
              <a:defRPr sz="1800">
                <a:solidFill>
                  <a:srgbClr val="DADFE8"/>
                </a:solidFill>
                <a:latin typeface="Aptos"/>
              </a:defRPr>
            </a:pPr>
            <a:r>
              <a:t>SciPy • Scikit-learn</a:t>
            </a:r>
          </a:p>
          <a:p>
            <a:pPr>
              <a:spcAft>
                <a:spcPts val="1300"/>
              </a:spcAft>
              <a:defRPr sz="1800">
                <a:solidFill>
                  <a:srgbClr val="DADFE8"/>
                </a:solidFill>
                <a:latin typeface="Aptos"/>
              </a:defRPr>
            </a:pPr>
            <a:r>
              <a:t>SQL • SQLAlchemy</a:t>
            </a:r>
          </a:p>
          <a:p>
            <a:pPr>
              <a:spcAft>
                <a:spcPts val="1300"/>
              </a:spcAft>
              <a:defRPr sz="1800">
                <a:solidFill>
                  <a:srgbClr val="DADFE8"/>
                </a:solidFill>
                <a:latin typeface="Aptos"/>
              </a:defRPr>
            </a:pPr>
            <a:r>
              <a:t>Power BI</a:t>
            </a:r>
          </a:p>
          <a:p>
            <a:pPr>
              <a:spcAft>
                <a:spcPts val="1300"/>
              </a:spcAft>
              <a:defRPr sz="1800">
                <a:solidFill>
                  <a:srgbClr val="DADFE8"/>
                </a:solidFill>
                <a:latin typeface="Aptos"/>
              </a:defRPr>
            </a:pPr>
            <a:r>
              <a:t>Jupyter Notebook • VS Code</a:t>
            </a:r>
          </a:p>
          <a:p>
            <a:pPr>
              <a:spcAft>
                <a:spcPts val="1300"/>
              </a:spcAft>
              <a:defRPr sz="1800">
                <a:solidFill>
                  <a:srgbClr val="DADFE8"/>
                </a:solidFill>
                <a:latin typeface="Aptos"/>
              </a:defRPr>
            </a:pPr>
            <a:r>
              <a:t>Git &amp; GitHub</a:t>
            </a:r>
          </a:p>
          <a:p>
            <a:pPr>
              <a:spcAft>
                <a:spcPts val="1300"/>
              </a:spcAft>
              <a:defRPr sz="1800">
                <a:solidFill>
                  <a:srgbClr val="DADFE8"/>
                </a:solidFill>
                <a:latin typeface="Aptos"/>
              </a:defRPr>
            </a:pPr>
            <a:r>
              <a:t>Repository includes data, notebooks, dashboards, reports, scripts and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CA0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2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DADFE8"/>
                </a:solidFill>
                <a:latin typeface="Aptos"/>
              </a:defRPr>
            </a:pPr>
            <a:r>
              <a:t>Completed an end-to-end customer churn analytics project</a:t>
            </a:r>
          </a:p>
          <a:p>
            <a:pPr>
              <a:spcAft>
                <a:spcPts val="1300"/>
              </a:spcAft>
              <a:defRPr sz="2100">
                <a:solidFill>
                  <a:srgbClr val="DADFE8"/>
                </a:solidFill>
                <a:latin typeface="Aptos"/>
              </a:defRPr>
            </a:pPr>
            <a:r>
              <a:t>Raw data → Cleaning → EDA → SQL → Statistics</a:t>
            </a:r>
          </a:p>
          <a:p>
            <a:pPr>
              <a:spcAft>
                <a:spcPts val="1300"/>
              </a:spcAft>
              <a:defRPr sz="2100">
                <a:solidFill>
                  <a:srgbClr val="DADFE8"/>
                </a:solidFill>
                <a:latin typeface="Aptos"/>
              </a:defRPr>
            </a:pPr>
            <a:r>
              <a:t>→ Segmentation → Machine Learning → Power BI → Automation</a:t>
            </a:r>
          </a:p>
          <a:p>
            <a:pPr>
              <a:spcAft>
                <a:spcPts val="1300"/>
              </a:spcAft>
              <a:defRPr sz="2100">
                <a:solidFill>
                  <a:srgbClr val="DADFE8"/>
                </a:solidFill>
                <a:latin typeface="Aptos"/>
              </a:defRPr>
            </a:pPr>
            <a:r>
              <a:t>The project demonstrates how analytics can convert customer data into actionable business insights</a:t>
            </a:r>
          </a:p>
          <a:p>
            <a:pPr>
              <a:spcAft>
                <a:spcPts val="1300"/>
              </a:spcAft>
              <a:defRPr sz="2100">
                <a:solidFill>
                  <a:srgbClr val="DADFE8"/>
                </a:solidFill>
                <a:latin typeface="Aptos"/>
              </a:defRPr>
            </a:pPr>
            <a:r>
              <a:t>Focus: better understanding of churn and supporting data-driven retention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CA0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2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DADFE8"/>
                </a:solidFill>
                <a:latin typeface="Aptos"/>
              </a:defRPr>
            </a:pPr>
            <a:r>
              <a:t>IBM Telco Customer Churn Analysis</a:t>
            </a:r>
          </a:p>
          <a:p>
            <a:pPr>
              <a:spcAft>
                <a:spcPts val="1300"/>
              </a:spcAft>
              <a:defRPr sz="2100">
                <a:solidFill>
                  <a:srgbClr val="DADFE8"/>
                </a:solidFill>
                <a:latin typeface="Aptos"/>
              </a:defRPr>
            </a:pPr>
            <a:r>
              <a:t>ApexPlanet Internship — Final Presentation</a:t>
            </a:r>
          </a:p>
          <a:p>
            <a:pPr>
              <a:spcAft>
                <a:spcPts val="1300"/>
              </a:spcAft>
              <a:defRPr sz="2100">
                <a:solidFill>
                  <a:srgbClr val="DADFE8"/>
                </a:solidFill>
                <a:latin typeface="Aptos"/>
              </a:defRPr>
            </a:pPr>
            <a:r>
              <a:t>Pritam Routray</a:t>
            </a:r>
          </a:p>
          <a:p>
            <a:pPr>
              <a:spcAft>
                <a:spcPts val="1300"/>
              </a:spcAft>
              <a:defRPr sz="2100">
                <a:solidFill>
                  <a:srgbClr val="DADFE8"/>
                </a:solidFill>
                <a:latin typeface="Aptos"/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28CA0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